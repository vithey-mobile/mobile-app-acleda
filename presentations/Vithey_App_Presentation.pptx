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cleda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20040"/>
            <a:ext cx="2926080" cy="292267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57600" y="91440"/>
            <a:ext cx="8531352" cy="4114800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ithe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502920"/>
            <a:ext cx="1280160" cy="1280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023360" y="109728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200" b="1">
                <a:solidFill>
                  <a:srgbClr val="FFFFFF"/>
                </a:solidFill>
              </a:defRPr>
            </a:pPr>
            <a:r>
              <a:t>Vithey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20116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8B923"/>
                </a:solidFill>
              </a:defRPr>
            </a:pPr>
            <a:r>
              <a:t>Team Vithey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606040"/>
            <a:ext cx="7772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4A90D9"/>
                </a:solidFill>
              </a:defRPr>
            </a:pPr>
            <a:r>
              <a:t>Organize · Share · Learn · Career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343400"/>
            <a:ext cx="11430000" cy="822960"/>
          </a:xfrm>
          <a:prstGeom prst="roundRect">
            <a:avLst/>
          </a:prstGeom>
          <a:solidFill>
            <a:srgbClr val="FFF8E8"/>
          </a:solidFill>
          <a:ln>
            <a:solidFill>
              <a:srgbClr val="E8B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462272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0B2D5B"/>
                </a:solidFill>
              </a:defRPr>
            </a:pPr>
            <a:r>
              <a:t>ACLEDA Bank AUB App Competition 2026</a:t>
            </a:r>
          </a:p>
          <a:p>
            <a:pPr algn="ctr">
              <a:defRPr sz="1400">
                <a:solidFill>
                  <a:srgbClr val="5C6B7A"/>
                </a:solidFill>
              </a:defRPr>
            </a:pPr>
            <a:r>
              <a:t>All-in-one Student Super App for AUB students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349240"/>
            <a:ext cx="2148840" cy="41148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413248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Social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5349240"/>
            <a:ext cx="2148840" cy="41148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5413248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Jobs &amp; CV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5349240"/>
            <a:ext cx="2148840" cy="41148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5413248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Finance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5349240"/>
            <a:ext cx="2148840" cy="41148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5413248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Chat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920" y="5349240"/>
            <a:ext cx="2148840" cy="41148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6920" y="5413248"/>
            <a:ext cx="2148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AI Assistant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6592824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Calibri"/>
              </a:defRPr>
            </a:pPr>
            <a:r>
              <a:t>Vithey App · ACLEDA Bank AUB App Competition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8735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48640" y="10972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Role</a:t>
            </a:r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D5B"/>
                </a:solidFill>
                <a:latin typeface="Calibri"/>
              </a:defRPr>
            </a:pPr>
            <a:r>
              <a:t>Team Members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97280"/>
            <a:ext cx="5394960" cy="347472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72200" y="1097280"/>
            <a:ext cx="5394960" cy="347472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08760"/>
            <a:ext cx="11155680" cy="438912"/>
          </a:xfrm>
          <a:prstGeom prst="rect">
            <a:avLst/>
          </a:prstGeom>
          <a:solidFill>
            <a:srgbClr val="F5F7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5819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2D5B"/>
                </a:solidFill>
              </a:defRPr>
            </a:pPr>
            <a:r>
              <a:t>Moeng Kimheang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58191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B7A"/>
                </a:solidFill>
              </a:defRPr>
            </a:pPr>
            <a:r>
              <a:t>Team Lead / Full-Stack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84248"/>
            <a:ext cx="111556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0574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2D5B"/>
                </a:solidFill>
              </a:defRPr>
            </a:pPr>
            <a:r>
              <a:t>Khorn Molika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0574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B7A"/>
                </a:solidFill>
              </a:defRPr>
            </a:pPr>
            <a:r>
              <a:t>Frontend / UI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459736"/>
            <a:ext cx="11155680" cy="438912"/>
          </a:xfrm>
          <a:prstGeom prst="rect">
            <a:avLst/>
          </a:prstGeom>
          <a:solidFill>
            <a:srgbClr val="F5F7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53288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2D5B"/>
                </a:solidFill>
              </a:defRPr>
            </a:pPr>
            <a:r>
              <a:t>Heng Liza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3288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B7A"/>
                </a:solidFill>
              </a:defRPr>
            </a:pPr>
            <a:r>
              <a:t>Backend / 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935224"/>
            <a:ext cx="111556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008376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2D5B"/>
                </a:solidFill>
              </a:defRPr>
            </a:pPr>
            <a:r>
              <a:t>Ponleong Bora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008376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B7A"/>
                </a:solidFill>
              </a:defRPr>
            </a:pPr>
            <a:r>
              <a:t>Backend / DevOps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410712"/>
            <a:ext cx="11155680" cy="438912"/>
          </a:xfrm>
          <a:prstGeom prst="rect">
            <a:avLst/>
          </a:prstGeom>
          <a:solidFill>
            <a:srgbClr val="F5F7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483864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2D5B"/>
                </a:solidFill>
              </a:defRPr>
            </a:pPr>
            <a:r>
              <a:t>Nam Ayheng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483864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B7A"/>
                </a:solidFill>
              </a:defRPr>
            </a:pPr>
            <a:r>
              <a:t>Frontend / Flutter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886200"/>
            <a:ext cx="111556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95935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2D5B"/>
                </a:solidFill>
              </a:defRPr>
            </a:pPr>
            <a:r>
              <a:t>Nao Soksovannarith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95935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B7A"/>
                </a:solidFill>
              </a:defRPr>
            </a:pPr>
            <a:r>
              <a:t>Backend / Database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361688"/>
            <a:ext cx="11155680" cy="438912"/>
          </a:xfrm>
          <a:prstGeom prst="rect">
            <a:avLst/>
          </a:prstGeom>
          <a:solidFill>
            <a:srgbClr val="F5F7FA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4348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B2D5B"/>
                </a:solidFill>
              </a:defRPr>
            </a:pPr>
            <a:r>
              <a:t>Phon Dyna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44348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C6B7A"/>
                </a:solidFill>
              </a:defRPr>
            </a:pPr>
            <a:r>
              <a:t>QA / Documentation</a:t>
            </a:r>
          </a:p>
        </p:txBody>
      </p:sp>
      <p:sp>
        <p:nvSpPr>
          <p:cNvPr id="29" name="Oval 28"/>
          <p:cNvSpPr/>
          <p:nvPr/>
        </p:nvSpPr>
        <p:spPr>
          <a:xfrm>
            <a:off x="10058400" y="228600"/>
            <a:ext cx="1645920" cy="685800"/>
          </a:xfrm>
          <a:prstGeom prst="ellipse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0" y="384048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B2D5B"/>
                </a:solidFill>
              </a:defRPr>
            </a:pPr>
            <a:r>
              <a:t>7 Members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592824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Calibri"/>
              </a:defRPr>
            </a:pPr>
            <a:r>
              <a:t>Vithey App · ACLEDA Bank AUB App Competition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68735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D5B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Project Overview &amp; Key Features</a:t>
            </a:r>
          </a:p>
          <a:p>
            <a:pPr>
              <a:spcAft>
                <a:spcPts val="5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System Architecture</a:t>
            </a:r>
          </a:p>
          <a:p>
            <a:pPr>
              <a:spcAft>
                <a:spcPts val="5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Frontend &amp; Backend Tech Stack</a:t>
            </a:r>
          </a:p>
          <a:p>
            <a:pPr>
              <a:spcAft>
                <a:spcPts val="5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Microservices &amp; Infrastructure</a:t>
            </a:r>
          </a:p>
          <a:p>
            <a:pPr>
              <a:spcAft>
                <a:spcPts val="5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Project Plan &amp; DevOps</a:t>
            </a:r>
          </a:p>
          <a:p>
            <a:pPr>
              <a:spcAft>
                <a:spcPts val="5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Security &amp; Deployment</a:t>
            </a:r>
          </a:p>
          <a:p>
            <a:pPr>
              <a:spcAft>
                <a:spcPts val="5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Impact, Demo &amp; 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92824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Calibri"/>
              </a:defRPr>
            </a:pPr>
            <a:r>
              <a:t>Vithey App · ACLEDA Bank AUB App Competition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54864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D5B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A90D9"/>
                </a:solidFill>
                <a:latin typeface="Calibri"/>
              </a:defRPr>
            </a:pPr>
            <a:r>
              <a:t>Unified Student Super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Social Feed — posts, likes, comments, share</a:t>
            </a:r>
          </a:p>
          <a:p>
            <a:pPr>
              <a:spcAft>
                <a:spcPts val="5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Job System — browse jobs, upload CV, apply</a:t>
            </a:r>
          </a:p>
          <a:p>
            <a:pPr>
              <a:spcAft>
                <a:spcPts val="5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Student Finance — verification, fees, invoices</a:t>
            </a:r>
          </a:p>
          <a:p>
            <a:pPr>
              <a:spcAft>
                <a:spcPts val="5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Private Chat — DMs, requests, block/report</a:t>
            </a:r>
          </a:p>
          <a:p>
            <a:pPr>
              <a:spcAft>
                <a:spcPts val="5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AI Assistant — Vithey chatbot with history</a:t>
            </a:r>
          </a:p>
          <a:p>
            <a:pPr>
              <a:spcAft>
                <a:spcPts val="5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Notifications — typed routing to all modules</a:t>
            </a:r>
          </a:p>
          <a:p>
            <a:pPr>
              <a:spcAft>
                <a:spcPts val="500"/>
              </a:spcAft>
              <a:defRPr sz="1500">
                <a:solidFill>
                  <a:srgbClr val="212121"/>
                </a:solidFill>
                <a:latin typeface="Calibri"/>
              </a:defRPr>
            </a:pPr>
            <a:r>
              <a:t>Settings — account, privacy, security, help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868680"/>
            <a:ext cx="2926080" cy="5120640"/>
          </a:xfrm>
          <a:prstGeom prst="roundRect">
            <a:avLst/>
          </a:prstGeom>
          <a:solidFill>
            <a:srgbClr val="0B2D5B"/>
          </a:solidFill>
          <a:ln>
            <a:solidFill>
              <a:srgbClr val="E8B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cree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005840"/>
            <a:ext cx="2651760" cy="4846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92240" y="60350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5C6B7A"/>
                </a:solidFill>
              </a:defRPr>
            </a:pPr>
            <a:r>
              <a:t>Home Feed — social, jobs &amp; media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6592824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Calibri"/>
              </a:defRPr>
            </a:pPr>
            <a:r>
              <a:t>Vithey App · ACLEDA Bank AUB App Competition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8735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D5B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914400"/>
            <a:ext cx="5303520" cy="566928"/>
          </a:xfrm>
          <a:prstGeom prst="roundRect">
            <a:avLst/>
          </a:prstGeom>
          <a:solidFill>
            <a:srgbClr val="E8EEF7"/>
          </a:solidFill>
          <a:ln>
            <a:solidFill>
              <a:srgbClr val="0B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B2D5B"/>
                </a:solidFill>
              </a:defRPr>
            </a:pPr>
            <a:r>
              <a:t>Flutter Client  →  iOS &amp; Android mobile app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572768"/>
            <a:ext cx="5303520" cy="566928"/>
          </a:xfrm>
          <a:prstGeom prst="roundRect">
            <a:avLst/>
          </a:prstGeom>
          <a:solidFill>
            <a:srgbClr val="FFF8E8"/>
          </a:solidFill>
          <a:ln>
            <a:solidFill>
              <a:srgbClr val="0B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B2D5B"/>
                </a:solidFill>
              </a:defRPr>
            </a:pPr>
            <a:r>
              <a:t>API Gateway  →  Single entry · routing · JWT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231136"/>
            <a:ext cx="5303520" cy="566928"/>
          </a:xfrm>
          <a:prstGeom prst="roundRect">
            <a:avLst/>
          </a:prstGeom>
          <a:solidFill>
            <a:srgbClr val="E8EEF7"/>
          </a:solidFill>
          <a:ln>
            <a:solidFill>
              <a:srgbClr val="0B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B2D5B"/>
                </a:solidFill>
              </a:defRPr>
            </a:pPr>
            <a:r>
              <a:t>Microservices  →  10 Spring Boot services + AI 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889504"/>
            <a:ext cx="5303520" cy="566928"/>
          </a:xfrm>
          <a:prstGeom prst="roundRect">
            <a:avLst/>
          </a:prstGeom>
          <a:solidFill>
            <a:srgbClr val="FFF8E8"/>
          </a:solidFill>
          <a:ln>
            <a:solidFill>
              <a:srgbClr val="0B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B2D5B"/>
                </a:solidFill>
              </a:defRPr>
            </a:pPr>
            <a:r>
              <a:t>Message Bus  →  RabbitMQ events between services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3547872"/>
            <a:ext cx="5303520" cy="566928"/>
          </a:xfrm>
          <a:prstGeom prst="roundRect">
            <a:avLst/>
          </a:prstGeom>
          <a:solidFill>
            <a:srgbClr val="E8EEF7"/>
          </a:solidFill>
          <a:ln>
            <a:solidFill>
              <a:srgbClr val="0B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B2D5B"/>
                </a:solidFill>
              </a:defRPr>
            </a:pPr>
            <a:r>
              <a:t>Data Layer  →  PostgreSQL · Redis · MinIO</a:t>
            </a:r>
          </a:p>
        </p:txBody>
      </p:sp>
      <p:pic>
        <p:nvPicPr>
          <p:cNvPr id="9" name="Picture 8" descr="backend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777240"/>
            <a:ext cx="5669280" cy="50292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92824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Calibri"/>
              </a:defRPr>
            </a:pPr>
            <a:r>
              <a:t>Vithey App · ACLEDA Bank AUB App Competition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8735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D5B"/>
                </a:solidFill>
                <a:latin typeface="Calibri"/>
              </a:defRPr>
            </a:pPr>
            <a:r>
              <a:t>App Features (Implemented)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05840"/>
            <a:ext cx="2468880" cy="4480560"/>
          </a:xfrm>
          <a:prstGeom prst="roundRect">
            <a:avLst/>
          </a:prstGeom>
          <a:solidFill>
            <a:srgbClr val="0B2D5B"/>
          </a:solidFill>
          <a:ln>
            <a:solidFill>
              <a:srgbClr val="E8B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15568"/>
            <a:ext cx="2286000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62356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B2D5B"/>
                </a:solidFill>
              </a:defRPr>
            </a:pPr>
            <a:r>
              <a:t>Social Feed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54680" y="1005840"/>
            <a:ext cx="2468880" cy="4480560"/>
          </a:xfrm>
          <a:prstGeom prst="roundRect">
            <a:avLst/>
          </a:prstGeom>
          <a:solidFill>
            <a:srgbClr val="0B2D5B"/>
          </a:solidFill>
          <a:ln>
            <a:solidFill>
              <a:srgbClr val="E8B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_fin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1115568"/>
            <a:ext cx="2286000" cy="39776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54680" y="562356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B2D5B"/>
                </a:solidFill>
              </a:defRPr>
            </a:pPr>
            <a:r>
              <a:t>Finance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005840"/>
            <a:ext cx="2468880" cy="4480560"/>
          </a:xfrm>
          <a:prstGeom prst="roundRect">
            <a:avLst/>
          </a:prstGeom>
          <a:solidFill>
            <a:srgbClr val="0B2D5B"/>
          </a:solidFill>
          <a:ln>
            <a:solidFill>
              <a:srgbClr val="E8B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creen_chat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79" y="1115568"/>
            <a:ext cx="2286000" cy="39776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06440" y="562356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B2D5B"/>
                </a:solidFill>
              </a:defRPr>
            </a:pPr>
            <a:r>
              <a:t>AI Chatbot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58200" y="1005840"/>
            <a:ext cx="2468880" cy="4480560"/>
          </a:xfrm>
          <a:prstGeom prst="roundRect">
            <a:avLst/>
          </a:prstGeom>
          <a:solidFill>
            <a:srgbClr val="0B2D5B"/>
          </a:solidFill>
          <a:ln>
            <a:solidFill>
              <a:srgbClr val="E8B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reen_prof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0" y="1115568"/>
            <a:ext cx="2286000" cy="397763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58200" y="5623560"/>
            <a:ext cx="2468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B2D5B"/>
                </a:solidFill>
              </a:defRPr>
            </a:pPr>
            <a:r>
              <a:t>Profile &amp; Jobs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6592824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Calibri"/>
              </a:defRPr>
            </a:pPr>
            <a:r>
              <a:t>Vithey App · ACLEDA Bank AUB App Competition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68735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D5B"/>
                </a:solidFill>
                <a:latin typeface="Calibri"/>
              </a:defRPr>
            </a:pPr>
            <a:r>
              <a:t>Frontend Architecture (Flutter)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25880"/>
            <a:ext cx="5394960" cy="4572000"/>
          </a:xfrm>
          <a:prstGeom prst="roundRect">
            <a:avLst/>
          </a:prstGeom>
          <a:solidFill>
            <a:srgbClr val="F5F7FA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4475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2D5B"/>
                </a:solidFill>
              </a:defRPr>
            </a:pPr>
            <a:r>
              <a:t>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GetX — state, routing, DI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Dio + HTTPS — REST API client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flutter_secure_storage — JWT tokens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shared_preferences — theme, language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cached_network_image, intl, file_picker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Modular: 11 feature modules complete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25880"/>
            <a:ext cx="5394960" cy="4572000"/>
          </a:xfrm>
          <a:prstGeom prst="roundRect">
            <a:avLst/>
          </a:prstGeom>
          <a:solidFill>
            <a:srgbClr val="F5F7FA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44475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2D5B"/>
                </a:solidFill>
              </a:defRPr>
            </a:pPr>
            <a:r>
              <a:t>Key Modules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Auth &amp; Onboarding (splash, login, Google, startup)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Media Feed — posters, videos, job cards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Post Detail, Comments, Share, Create Post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Profile — About, Posters, Videos, Jobs, CV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Upload CV &amp; Job Application flow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Finance — verification, invoices, payments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92824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Calibri"/>
              </a:defRPr>
            </a:pPr>
            <a:r>
              <a:t>Vithey App · ACLEDA Bank AUB App Competition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8735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D5B"/>
                </a:solidFill>
                <a:latin typeface="Calibri"/>
              </a:defRPr>
            </a:pPr>
            <a:r>
              <a:t>Backend Microservices (Spring Boot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4A90D9"/>
                </a:solidFill>
                <a:latin typeface="Calibri"/>
              </a:defRPr>
            </a:pPr>
            <a:r>
              <a:t>Java 21 · Maven · Clean Architecture · JWT Security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5394960" cy="420624"/>
          </a:xfrm>
          <a:prstGeom prst="roundRect">
            <a:avLst/>
          </a:prstGeom>
          <a:solidFill>
            <a:srgbClr val="E8F4FD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07592"/>
            <a:ext cx="5120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B2D5B"/>
                </a:solidFill>
              </a:defRPr>
            </a:pPr>
            <a:r>
              <a:t>●  api-gateway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5394960" cy="420624"/>
          </a:xfrm>
          <a:prstGeom prst="roundRect">
            <a:avLst/>
          </a:prstGeom>
          <a:solidFill>
            <a:srgbClr val="E8F4FD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10512"/>
            <a:ext cx="5120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B2D5B"/>
                </a:solidFill>
              </a:defRPr>
            </a:pPr>
            <a:r>
              <a:t>●  auth-service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40280"/>
            <a:ext cx="5394960" cy="420624"/>
          </a:xfrm>
          <a:prstGeom prst="roundRect">
            <a:avLst/>
          </a:prstGeom>
          <a:solidFill>
            <a:srgbClr val="E8F4FD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13432"/>
            <a:ext cx="5120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B2D5B"/>
                </a:solidFill>
              </a:defRPr>
            </a:pPr>
            <a:r>
              <a:t>●  user-profile-service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43200"/>
            <a:ext cx="5394960" cy="420624"/>
          </a:xfrm>
          <a:prstGeom prst="roundRect">
            <a:avLst/>
          </a:prstGeom>
          <a:solidFill>
            <a:srgbClr val="E8F4FD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16352"/>
            <a:ext cx="5120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B2D5B"/>
                </a:solidFill>
              </a:defRPr>
            </a:pPr>
            <a:r>
              <a:t>●  content-service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246120"/>
            <a:ext cx="5394960" cy="420624"/>
          </a:xfrm>
          <a:prstGeom prst="roundRect">
            <a:avLst/>
          </a:prstGeom>
          <a:solidFill>
            <a:srgbClr val="E8F4FD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19272"/>
            <a:ext cx="5120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B2D5B"/>
                </a:solidFill>
              </a:defRPr>
            </a:pPr>
            <a:r>
              <a:t>●  career-service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234440"/>
            <a:ext cx="5394960" cy="420624"/>
          </a:xfrm>
          <a:prstGeom prst="roundRect">
            <a:avLst/>
          </a:prstGeom>
          <a:solidFill>
            <a:srgbClr val="E8F4FD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307592"/>
            <a:ext cx="5120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B2D5B"/>
                </a:solidFill>
              </a:defRPr>
            </a:pPr>
            <a:r>
              <a:t>●  chat-service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737360"/>
            <a:ext cx="5394960" cy="420624"/>
          </a:xfrm>
          <a:prstGeom prst="roundRect">
            <a:avLst/>
          </a:prstGeom>
          <a:solidFill>
            <a:srgbClr val="E8F4FD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810512"/>
            <a:ext cx="5120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B2D5B"/>
                </a:solidFill>
              </a:defRPr>
            </a:pPr>
            <a:r>
              <a:t>●  finance-service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240280"/>
            <a:ext cx="5394960" cy="420624"/>
          </a:xfrm>
          <a:prstGeom prst="roundRect">
            <a:avLst/>
          </a:prstGeom>
          <a:solidFill>
            <a:srgbClr val="E8F4FD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313432"/>
            <a:ext cx="5120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B2D5B"/>
                </a:solidFill>
              </a:defRPr>
            </a:pPr>
            <a:r>
              <a:t>●  file-service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2743200"/>
            <a:ext cx="5394960" cy="420624"/>
          </a:xfrm>
          <a:prstGeom prst="roundRect">
            <a:avLst/>
          </a:prstGeom>
          <a:solidFill>
            <a:srgbClr val="E8F4FD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816352"/>
            <a:ext cx="5120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B2D5B"/>
                </a:solidFill>
              </a:defRPr>
            </a:pPr>
            <a:r>
              <a:t>●  notification-service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246120"/>
            <a:ext cx="5394960" cy="420624"/>
          </a:xfrm>
          <a:prstGeom prst="roundRect">
            <a:avLst/>
          </a:prstGeom>
          <a:solidFill>
            <a:srgbClr val="E8F4FD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319272"/>
            <a:ext cx="5120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0B2D5B"/>
                </a:solidFill>
              </a:defRPr>
            </a:pPr>
            <a:r>
              <a:t>●  ai-service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029200"/>
            <a:ext cx="11155680" cy="1097280"/>
          </a:xfrm>
          <a:prstGeom prst="roundRect">
            <a:avLst/>
          </a:prstGeom>
          <a:solidFill>
            <a:srgbClr val="FFF8E8"/>
          </a:solidFill>
          <a:ln>
            <a:solidFill>
              <a:srgbClr val="E8B9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138928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12121"/>
                </a:solidFill>
              </a:defRPr>
            </a:pPr>
            <a:r>
              <a:t>Shared: Eureka Server — service discovery  ·  Config Server — centralized configuration  ·  PostgreSQL — primary database  ·  Redis — caching layer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6592824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Calibri"/>
              </a:defRPr>
            </a:pPr>
            <a:r>
              <a:t>Vithey App · ACLEDA Bank AUB App Competition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68735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D5B"/>
                </a:solidFill>
                <a:latin typeface="Calibri"/>
              </a:defRPr>
            </a:pPr>
            <a:r>
              <a:t>Infrastructure &amp; DevOps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25880"/>
            <a:ext cx="5394960" cy="4572000"/>
          </a:xfrm>
          <a:prstGeom prst="roundRect">
            <a:avLst/>
          </a:prstGeom>
          <a:solidFill>
            <a:srgbClr val="F5F7FA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4475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2D5B"/>
                </a:solidFill>
              </a:defRPr>
            </a:pPr>
            <a:r>
              <a:t>Shared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Eureka Server — service discovery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Config Server — centralized configuration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PostgreSQL — primary database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Redis — caching layer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RabbitMQ — async messaging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MinIO — object / file storage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25880"/>
            <a:ext cx="5394960" cy="4572000"/>
          </a:xfrm>
          <a:prstGeom prst="roundRect">
            <a:avLst/>
          </a:prstGeom>
          <a:solidFill>
            <a:srgbClr val="F5F7FA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44475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2D5B"/>
                </a:solidFill>
              </a:defRPr>
            </a:pPr>
            <a:r>
              <a:t>DevOps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Git + GitHub — version control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Docker — per-service containerization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docker-compose — local full stack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GitHub Actions — CI per service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Bruno / Postman — API testing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Eureka + Config Server — cloud-ready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92824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Calibri"/>
              </a:defRPr>
            </a:pPr>
            <a:r>
              <a:t>Vithey App · ACLEDA Bank AUB App Competition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8735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D5B"/>
                </a:solidFill>
                <a:latin typeface="Calibri"/>
              </a:defRPr>
            </a:pPr>
            <a:r>
              <a:t>Project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✅ Phase 1 — Requirement Analysis &amp; prompts</a:t>
            </a:r>
          </a:p>
          <a:p>
            <a:pPr>
              <a:spcAft>
                <a:spcPts val="5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✅ Phase 2 — UI/UX Design (Figma references)</a:t>
            </a:r>
          </a:p>
          <a:p>
            <a:pPr>
              <a:spcAft>
                <a:spcPts val="5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✅ Phase 3 — Backend microservices development</a:t>
            </a:r>
          </a:p>
          <a:p>
            <a:pPr>
              <a:spcAft>
                <a:spcPts val="5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✅ Phase 4 — Flutter frontend (11 modules)</a:t>
            </a:r>
          </a:p>
          <a:p>
            <a:pPr>
              <a:spcAft>
                <a:spcPts val="5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✅ Phase 5 — API integration &amp; mock layer</a:t>
            </a:r>
          </a:p>
          <a:p>
            <a:pPr>
              <a:spcAft>
                <a:spcPts val="5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✅ Phase 6 — Testing (unit + widget tests)</a:t>
            </a:r>
          </a:p>
          <a:p>
            <a:pPr>
              <a:spcAft>
                <a:spcPts val="5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🔲 Phase 7 — Production deployment (GCP/K8s)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92824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Calibri"/>
              </a:defRPr>
            </a:pPr>
            <a:r>
              <a:t>Vithey App · ACLEDA Bank AUB App Competition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D5B"/>
                </a:solidFill>
                <a:latin typeface="Calibri"/>
              </a:defRPr>
            </a:pPr>
            <a:r>
              <a:t>Security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25880"/>
            <a:ext cx="5394960" cy="4572000"/>
          </a:xfrm>
          <a:prstGeom prst="roundRect">
            <a:avLst/>
          </a:prstGeom>
          <a:solidFill>
            <a:srgbClr val="F5F7FA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4475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2D5B"/>
                </a:solidFill>
              </a:defRPr>
            </a:pPr>
            <a:r>
              <a:t>Frontend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Secure JWT token storage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flutter_secure_storage for credentials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HTTPS-only API communication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Biometric &amp; 2FA placeholders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Privacy toggles — profile, data, tracking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325880"/>
            <a:ext cx="5394960" cy="4572000"/>
          </a:xfrm>
          <a:prstGeom prst="roundRect">
            <a:avLst/>
          </a:prstGeom>
          <a:solidFill>
            <a:srgbClr val="F5F7FA"/>
          </a:solidFill>
          <a:ln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444752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B2D5B"/>
                </a:solidFill>
              </a:defRPr>
            </a:pPr>
            <a:r>
              <a:t>Backend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Spring Security + JWT filters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API Gateway token validation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BCrypt password encryption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Role-based access control (RBAC)</a:t>
            </a:r>
          </a:p>
          <a:p>
            <a:pPr>
              <a:spcAft>
                <a:spcPts val="400"/>
              </a:spcAft>
              <a:defRPr sz="1400">
                <a:solidFill>
                  <a:srgbClr val="212121"/>
                </a:solidFill>
              </a:defRPr>
            </a:pPr>
            <a:r>
              <a:t>Per-service security config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6592824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Calibri"/>
              </a:defRPr>
            </a:pPr>
            <a:r>
              <a:t>Vithey App · ACLEDA Bank AUB App Competition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8735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D5B"/>
                </a:solidFill>
                <a:latin typeface="Calibri"/>
              </a:defRPr>
            </a:pPr>
            <a:r>
              <a:t>Deployment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Google Cloud Platform — primary target</a:t>
            </a:r>
          </a:p>
          <a:p>
            <a:pPr>
              <a:spcAft>
                <a:spcPts val="5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Kubernetes — container orchestration</a:t>
            </a:r>
          </a:p>
          <a:p>
            <a:pPr>
              <a:spcAft>
                <a:spcPts val="5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OpenShift — enterprise deployment option</a:t>
            </a:r>
          </a:p>
          <a:p>
            <a:pPr>
              <a:spcAft>
                <a:spcPts val="5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Docker images per microservice</a:t>
            </a:r>
          </a:p>
          <a:p>
            <a:pPr>
              <a:spcAft>
                <a:spcPts val="5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Horizontal scaling via Eureka discovery</a:t>
            </a:r>
          </a:p>
          <a:p>
            <a:pPr>
              <a:spcAft>
                <a:spcPts val="5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High availability — stateless services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92824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Calibri"/>
              </a:defRPr>
            </a:pPr>
            <a:r>
              <a:t>Vithey App · ACLEDA Bank AUB App Competition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D5B"/>
                </a:solidFill>
                <a:latin typeface="Calibri"/>
              </a:defRPr>
            </a:pPr>
            <a:r>
              <a:t>Impact &amp; Benefits for AUB Students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One app replaces fragmented tools</a:t>
            </a:r>
          </a:p>
          <a:p>
            <a:pPr>
              <a:spcAft>
                <a:spcPts val="5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Social networking within campus community</a:t>
            </a:r>
          </a:p>
          <a:p>
            <a:pPr>
              <a:spcAft>
                <a:spcPts val="5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Direct job applications with CV upload</a:t>
            </a:r>
          </a:p>
          <a:p>
            <a:pPr>
              <a:spcAft>
                <a:spcPts val="5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Track tuition &amp; payment invoices in-app</a:t>
            </a:r>
          </a:p>
          <a:p>
            <a:pPr>
              <a:spcAft>
                <a:spcPts val="5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Safe private messaging between students</a:t>
            </a:r>
          </a:p>
          <a:p>
            <a:pPr>
              <a:spcAft>
                <a:spcPts val="5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AI help for finance, jobs &amp; study topics</a:t>
            </a:r>
          </a:p>
          <a:p>
            <a:pPr>
              <a:spcAft>
                <a:spcPts val="5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Built for ACLEDA Bank AUB Competition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92824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Calibri"/>
              </a:defRPr>
            </a:pPr>
            <a:r>
              <a:t>Vithey App · ACLEDA Bank AUB App Competition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B2D5B"/>
                </a:solidFill>
                <a:latin typeface="Calibri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Full-stack production-ready architecture</a:t>
            </a:r>
          </a:p>
          <a:p>
            <a:pPr>
              <a:spcAft>
                <a:spcPts val="5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10 microservices + Flutter mobile client</a:t>
            </a:r>
          </a:p>
          <a:p>
            <a:pPr>
              <a:spcAft>
                <a:spcPts val="5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All 11 frontend modules implemented</a:t>
            </a:r>
          </a:p>
          <a:p>
            <a:pPr>
              <a:spcAft>
                <a:spcPts val="5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Secure JWT auth end-to-end</a:t>
            </a:r>
          </a:p>
          <a:p>
            <a:pPr>
              <a:spcAft>
                <a:spcPts val="5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Docker + CI/CD deployment ready</a:t>
            </a:r>
          </a:p>
          <a:p>
            <a:pPr>
              <a:spcAft>
                <a:spcPts val="500"/>
              </a:spcAft>
              <a:defRPr sz="1700">
                <a:solidFill>
                  <a:srgbClr val="212121"/>
                </a:solidFill>
                <a:latin typeface="Calibri"/>
              </a:defRPr>
            </a:pPr>
            <a:r>
              <a:t>Solves real student daily-life problems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6592824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Calibri"/>
              </a:defRPr>
            </a:pPr>
            <a:r>
              <a:t>Vithey App · ACLEDA Bank AUB App Competition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8735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cleda_bank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2560320" cy="2557343"/>
          </a:xfrm>
          <a:prstGeom prst="rect">
            <a:avLst/>
          </a:prstGeom>
        </p:spPr>
      </p:pic>
      <p:pic>
        <p:nvPicPr>
          <p:cNvPr id="4" name="Picture 3" descr="vithey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5720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1031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E8B923"/>
                </a:solidFill>
              </a:defRPr>
            </a:pPr>
            <a:r>
              <a:t>Team Vithey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0332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4A90D9"/>
                </a:solidFill>
              </a:defRPr>
            </a:pPr>
            <a:r>
              <a:t>Vithey App — Organize · Share · Learn · Career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592824"/>
            <a:ext cx="82296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FFFFFF"/>
                </a:solidFill>
                <a:latin typeface="Calibri"/>
              </a:defRPr>
            </a:pPr>
            <a:r>
              <a:t>Vithey App · ACLEDA Bank AUB App Competition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8735" y="6592824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
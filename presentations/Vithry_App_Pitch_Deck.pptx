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"/>
            <a:ext cx="12191695" cy="4206240"/>
          </a:xfrm>
          <a:prstGeom prst="rect">
            <a:avLst/>
          </a:prstGeom>
          <a:solidFill>
            <a:srgbClr val="0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1097280"/>
            <a:ext cx="1645920" cy="164592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3200400"/>
            <a:ext cx="1097280" cy="109728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502920"/>
            <a:ext cx="2194560" cy="2194560"/>
          </a:xfrm>
          <a:prstGeom prst="roundRect">
            <a:avLst/>
          </a:prstGeom>
          <a:solidFill>
            <a:srgbClr val="E0E4EA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0" y="1097280"/>
            <a:ext cx="457200" cy="45720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9456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B7B8C"/>
                </a:solidFill>
                <a:latin typeface="Calibri"/>
              </a:defRPr>
            </a:pPr>
            <a:r>
              <a:t>App Logo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097280"/>
            <a:ext cx="8412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Calibri"/>
              </a:defRPr>
            </a:pPr>
            <a:r>
              <a:t>Vithry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05740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E8B923"/>
                </a:solidFill>
                <a:latin typeface="Calibri"/>
              </a:defRPr>
            </a:pPr>
            <a:r>
              <a:t>Team Vithey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651760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A90D9"/>
                </a:solidFill>
                <a:latin typeface="Calibri"/>
              </a:defRPr>
            </a:pPr>
            <a:r>
              <a:t>Organize · Share · Learn · Career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72000"/>
            <a:ext cx="2011680" cy="384048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63600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Social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8920" y="4572000"/>
            <a:ext cx="2011680" cy="384048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8920" y="463600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Jobs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4572000"/>
            <a:ext cx="2011680" cy="384048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4920" y="463600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Finance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4572000"/>
            <a:ext cx="2011680" cy="384048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0920" y="463600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Chat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46920" y="4572000"/>
            <a:ext cx="2011680" cy="384048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46920" y="463600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601968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Vithry 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68735" y="660196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B2D5B"/>
                </a:solidFill>
                <a:latin typeface="Calibri"/>
              </a:defRPr>
            </a:pPr>
            <a:r>
              <a:t>Team Members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01968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Vithry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660196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0" y="182880"/>
            <a:ext cx="1828800" cy="502920"/>
          </a:xfrm>
          <a:prstGeom prst="roundRect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0" y="29260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300">
                <a:solidFill>
                  <a:srgbClr val="0B2D5B"/>
                </a:solidFill>
              </a:defRPr>
            </a:pPr>
            <a:r>
              <a:t>7 Members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1051560"/>
            <a:ext cx="9418320" cy="530352"/>
          </a:xfrm>
          <a:prstGeom prst="roundRect">
            <a:avLst/>
          </a:prstGeom>
          <a:solidFill>
            <a:srgbClr val="E8F1FB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00200" y="1179576"/>
            <a:ext cx="274320" cy="274320"/>
          </a:xfrm>
          <a:prstGeom prst="ellipse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116128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2D5B"/>
                </a:solidFill>
              </a:defRPr>
            </a:pPr>
            <a:r>
              <a:t>Moeng Kimheang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1709928"/>
            <a:ext cx="941832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600200" y="1837943"/>
            <a:ext cx="274320" cy="274320"/>
          </a:xfrm>
          <a:prstGeom prst="ellipse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1819655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2D5B"/>
                </a:solidFill>
              </a:defRPr>
            </a:pPr>
            <a:r>
              <a:t>Khorn Molika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2368296"/>
            <a:ext cx="9418320" cy="530352"/>
          </a:xfrm>
          <a:prstGeom prst="roundRect">
            <a:avLst/>
          </a:prstGeom>
          <a:solidFill>
            <a:srgbClr val="E8F1FB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600200" y="2496312"/>
            <a:ext cx="274320" cy="274320"/>
          </a:xfrm>
          <a:prstGeom prst="ellipse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11680" y="2478024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2D5B"/>
                </a:solidFill>
              </a:defRPr>
            </a:pPr>
            <a:r>
              <a:t>Heng Liza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3026664"/>
            <a:ext cx="941832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600200" y="3154680"/>
            <a:ext cx="274320" cy="274320"/>
          </a:xfrm>
          <a:prstGeom prst="ellipse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11680" y="313639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2D5B"/>
                </a:solidFill>
              </a:defRPr>
            </a:pPr>
            <a:r>
              <a:t>Ponleong Bora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3685031"/>
            <a:ext cx="9418320" cy="530352"/>
          </a:xfrm>
          <a:prstGeom prst="roundRect">
            <a:avLst/>
          </a:prstGeom>
          <a:solidFill>
            <a:srgbClr val="E8F1FB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600200" y="3813047"/>
            <a:ext cx="274320" cy="274320"/>
          </a:xfrm>
          <a:prstGeom prst="ellipse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11680" y="3794759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2D5B"/>
                </a:solidFill>
              </a:defRPr>
            </a:pPr>
            <a:r>
              <a:t>Nam Ayheng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71600" y="4343400"/>
            <a:ext cx="941832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600200" y="4471416"/>
            <a:ext cx="274320" cy="274320"/>
          </a:xfrm>
          <a:prstGeom prst="ellipse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11680" y="445312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2D5B"/>
                </a:solidFill>
              </a:defRPr>
            </a:pPr>
            <a:r>
              <a:t>Nao Soksovannarith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71600" y="5001768"/>
            <a:ext cx="9418320" cy="530352"/>
          </a:xfrm>
          <a:prstGeom prst="roundRect">
            <a:avLst/>
          </a:prstGeom>
          <a:solidFill>
            <a:srgbClr val="E8F1FB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600200" y="5129784"/>
            <a:ext cx="274320" cy="274320"/>
          </a:xfrm>
          <a:prstGeom prst="ellipse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11680" y="5111496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2D5B"/>
                </a:solidFill>
              </a:defRPr>
            </a:pPr>
            <a:r>
              <a:t>Phon Dyna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1051560"/>
            <a:ext cx="685800" cy="4572000"/>
          </a:xfrm>
          <a:prstGeom prst="roundRect">
            <a:avLst/>
          </a:prstGeom>
          <a:solidFill>
            <a:srgbClr val="E0E4EA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17220" y="2834639"/>
            <a:ext cx="457200" cy="45720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120640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B7B8C"/>
                </a:solidFill>
                <a:latin typeface="Calibri"/>
              </a:defRPr>
            </a:pPr>
            <a:r>
              <a:t>Team Photo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B2D5B"/>
                </a:solidFill>
                <a:latin typeface="Calibri"/>
              </a:defRPr>
            </a:pPr>
            <a:r>
              <a:t>Table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01968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Vithry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660196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143000"/>
            <a:ext cx="347472" cy="347472"/>
          </a:xfrm>
          <a:prstGeom prst="ellipse">
            <a:avLst/>
          </a:prstGeom>
          <a:solidFill>
            <a:srgbClr val="0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88720"/>
            <a:ext cx="34747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17043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Project Overview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1709928"/>
            <a:ext cx="347472" cy="347472"/>
          </a:xfrm>
          <a:prstGeom prst="ellipse">
            <a:avLst/>
          </a:prstGeom>
          <a:solidFill>
            <a:srgbClr val="0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55648"/>
            <a:ext cx="34747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7373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System Architecture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2276856"/>
            <a:ext cx="347472" cy="347472"/>
          </a:xfrm>
          <a:prstGeom prst="ellipse">
            <a:avLst/>
          </a:prstGeom>
          <a:solidFill>
            <a:srgbClr val="0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322576"/>
            <a:ext cx="34747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304288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Tech Stack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2843783"/>
            <a:ext cx="347472" cy="347472"/>
          </a:xfrm>
          <a:prstGeom prst="ellipse">
            <a:avLst/>
          </a:prstGeom>
          <a:solidFill>
            <a:srgbClr val="0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889503"/>
            <a:ext cx="34747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871215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Infrastructure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410711"/>
            <a:ext cx="347472" cy="347472"/>
          </a:xfrm>
          <a:prstGeom prst="ellipse">
            <a:avLst/>
          </a:prstGeom>
          <a:solidFill>
            <a:srgbClr val="0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456432"/>
            <a:ext cx="34747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438144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Project Plan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3977639"/>
            <a:ext cx="347472" cy="347472"/>
          </a:xfrm>
          <a:prstGeom prst="ellipse">
            <a:avLst/>
          </a:prstGeom>
          <a:solidFill>
            <a:srgbClr val="0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023359"/>
            <a:ext cx="34747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00507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DevOps Strategy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0" y="1143000"/>
            <a:ext cx="347472" cy="347472"/>
          </a:xfrm>
          <a:prstGeom prst="ellipse">
            <a:avLst/>
          </a:prstGeom>
          <a:solidFill>
            <a:srgbClr val="0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1188720"/>
            <a:ext cx="34747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17043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Backend Design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0" y="1709928"/>
            <a:ext cx="347472" cy="347472"/>
          </a:xfrm>
          <a:prstGeom prst="ellipse">
            <a:avLst/>
          </a:prstGeom>
          <a:solidFill>
            <a:srgbClr val="0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1755648"/>
            <a:ext cx="34747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17373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Frontend Design</a:t>
            </a:r>
          </a:p>
        </p:txBody>
      </p:sp>
      <p:sp>
        <p:nvSpPr>
          <p:cNvPr id="31" name="Oval 30"/>
          <p:cNvSpPr/>
          <p:nvPr/>
        </p:nvSpPr>
        <p:spPr>
          <a:xfrm>
            <a:off x="6400800" y="2276856"/>
            <a:ext cx="347472" cy="347472"/>
          </a:xfrm>
          <a:prstGeom prst="ellipse">
            <a:avLst/>
          </a:prstGeom>
          <a:solidFill>
            <a:srgbClr val="0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2322576"/>
            <a:ext cx="34747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2304288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Security Design</a:t>
            </a:r>
          </a:p>
        </p:txBody>
      </p:sp>
      <p:sp>
        <p:nvSpPr>
          <p:cNvPr id="34" name="Oval 33"/>
          <p:cNvSpPr/>
          <p:nvPr/>
        </p:nvSpPr>
        <p:spPr>
          <a:xfrm>
            <a:off x="6400800" y="2843783"/>
            <a:ext cx="347472" cy="347472"/>
          </a:xfrm>
          <a:prstGeom prst="ellipse">
            <a:avLst/>
          </a:prstGeom>
          <a:solidFill>
            <a:srgbClr val="0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2889503"/>
            <a:ext cx="34747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2871215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Deployment Strategy</a:t>
            </a:r>
          </a:p>
        </p:txBody>
      </p:sp>
      <p:sp>
        <p:nvSpPr>
          <p:cNvPr id="37" name="Oval 36"/>
          <p:cNvSpPr/>
          <p:nvPr/>
        </p:nvSpPr>
        <p:spPr>
          <a:xfrm>
            <a:off x="6400800" y="3410711"/>
            <a:ext cx="347472" cy="347472"/>
          </a:xfrm>
          <a:prstGeom prst="ellipse">
            <a:avLst/>
          </a:prstGeom>
          <a:solidFill>
            <a:srgbClr val="0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3456432"/>
            <a:ext cx="34747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3438144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Conclusion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B2D5B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A90D9"/>
                </a:solidFill>
                <a:latin typeface="Calibri"/>
              </a:defRPr>
            </a:pPr>
            <a:r>
              <a:t>Unified Student Super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Vithry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60196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352044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27048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B2D5B"/>
                </a:solidFill>
              </a:defRPr>
            </a:pPr>
            <a:r>
              <a:t>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399032"/>
            <a:ext cx="2606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B2D5B"/>
                </a:solidFill>
                <a:latin typeface="Calibri"/>
              </a:defRPr>
            </a:pPr>
            <a:r>
              <a:t>Social Feed</a:t>
            </a:r>
          </a:p>
          <a:p>
            <a:pPr>
              <a:defRPr sz="1100">
                <a:solidFill>
                  <a:srgbClr val="6B7B8C"/>
                </a:solidFill>
                <a:latin typeface="Calibri"/>
              </a:defRPr>
            </a:pPr>
            <a:r>
              <a:t>Posts, likes, comments &amp; share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234440"/>
            <a:ext cx="352044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97680" y="1463040"/>
            <a:ext cx="502920" cy="502920"/>
          </a:xfrm>
          <a:prstGeom prst="ellipse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527048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B2D5B"/>
                </a:solidFill>
              </a:defRPr>
            </a:pPr>
            <a:r>
              <a:t>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59" y="1399032"/>
            <a:ext cx="2606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B2D5B"/>
                </a:solidFill>
                <a:latin typeface="Calibri"/>
              </a:defRPr>
            </a:pPr>
            <a:r>
              <a:t>Jobs</a:t>
            </a:r>
          </a:p>
          <a:p>
            <a:pPr>
              <a:defRPr sz="1100">
                <a:solidFill>
                  <a:srgbClr val="6B7B8C"/>
                </a:solidFill>
                <a:latin typeface="Calibri"/>
              </a:defRPr>
            </a:pPr>
            <a:r>
              <a:t>Browse jobs &amp; upload CV to apply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1234440"/>
            <a:ext cx="352044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955280" y="1463040"/>
            <a:ext cx="502920" cy="502920"/>
          </a:xfrm>
          <a:prstGeom prst="ellipse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0" y="1527048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B2D5B"/>
                </a:solidFill>
              </a:defRPr>
            </a:pPr>
            <a:r>
              <a:t>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1399032"/>
            <a:ext cx="2606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B2D5B"/>
                </a:solidFill>
                <a:latin typeface="Calibri"/>
              </a:defRPr>
            </a:pPr>
            <a:r>
              <a:t>Finance</a:t>
            </a:r>
          </a:p>
          <a:p>
            <a:pPr>
              <a:defRPr sz="1100">
                <a:solidFill>
                  <a:srgbClr val="6B7B8C"/>
                </a:solidFill>
                <a:latin typeface="Calibri"/>
              </a:defRPr>
            </a:pPr>
            <a:r>
              <a:t>Student fees, invoices &amp; payments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2880360"/>
            <a:ext cx="352044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" y="3108960"/>
            <a:ext cx="502920" cy="502920"/>
          </a:xfrm>
          <a:prstGeom prst="ellipse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172968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B2D5B"/>
                </a:solidFill>
              </a:defRPr>
            </a:pPr>
            <a:r>
              <a:t>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044952"/>
            <a:ext cx="2606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B2D5B"/>
                </a:solidFill>
                <a:latin typeface="Calibri"/>
              </a:defRPr>
            </a:pPr>
            <a:r>
              <a:t>Chat</a:t>
            </a:r>
          </a:p>
          <a:p>
            <a:pPr>
              <a:defRPr sz="1100">
                <a:solidFill>
                  <a:srgbClr val="6B7B8C"/>
                </a:solidFill>
                <a:latin typeface="Calibri"/>
              </a:defRPr>
            </a:pPr>
            <a:r>
              <a:t>Private messaging &amp; safety tools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2880360"/>
            <a:ext cx="352044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297680" y="3108960"/>
            <a:ext cx="502920" cy="502920"/>
          </a:xfrm>
          <a:prstGeom prst="ellipse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0" y="3172968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B2D5B"/>
                </a:solidFill>
              </a:defRPr>
            </a:pPr>
            <a:r>
              <a:t>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59" y="3044952"/>
            <a:ext cx="2606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B2D5B"/>
                </a:solidFill>
                <a:latin typeface="Calibri"/>
              </a:defRPr>
            </a:pPr>
            <a:r>
              <a:t>AI Chatbot</a:t>
            </a:r>
          </a:p>
          <a:p>
            <a:pPr>
              <a:defRPr sz="1100">
                <a:solidFill>
                  <a:srgbClr val="6B7B8C"/>
                </a:solidFill>
                <a:latin typeface="Calibri"/>
              </a:defRPr>
            </a:pPr>
            <a:r>
              <a:t>Vithey assistant for student help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18120" y="2880360"/>
            <a:ext cx="352044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55280" y="3108960"/>
            <a:ext cx="502920" cy="502920"/>
          </a:xfrm>
          <a:prstGeom prst="ellipse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0" y="3172968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B2D5B"/>
                </a:solidFill>
              </a:defRPr>
            </a:pPr>
            <a:r>
              <a:t>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3044952"/>
            <a:ext cx="2606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B2D5B"/>
                </a:solidFill>
                <a:latin typeface="Calibri"/>
              </a:defRPr>
            </a:pPr>
            <a:r>
              <a:t>Notifications</a:t>
            </a:r>
          </a:p>
          <a:p>
            <a:pPr>
              <a:defRPr sz="1100">
                <a:solidFill>
                  <a:srgbClr val="6B7B8C"/>
                </a:solidFill>
                <a:latin typeface="Calibri"/>
              </a:defRPr>
            </a:pPr>
            <a:r>
              <a:t>Smart alerts &amp; deep linking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617720"/>
            <a:ext cx="11155680" cy="777240"/>
          </a:xfrm>
          <a:prstGeom prst="roundRect">
            <a:avLst/>
          </a:prstGeom>
          <a:solidFill>
            <a:srgbClr val="FFF8E8"/>
          </a:solidFill>
          <a:ln>
            <a:solidFill>
              <a:srgbClr val="E8B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75488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2D5B"/>
                </a:solidFill>
              </a:defRPr>
            </a:pPr>
            <a:r>
              <a:t>User Flow:  Login  →  Home Feed  →  Jobs  →  Apply CV  →  Chat  →  Finance  →  AI Help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B2D5B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01968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Vithry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660196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051560"/>
            <a:ext cx="5212080" cy="658368"/>
          </a:xfrm>
          <a:prstGeom prst="roundRect">
            <a:avLst/>
          </a:prstGeom>
          <a:solidFill>
            <a:srgbClr val="E8F1FB"/>
          </a:solidFill>
          <a:ln w="15240">
            <a:solidFill>
              <a:srgbClr val="0B2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79" y="1124712"/>
            <a:ext cx="49377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B2D5B"/>
                </a:solidFill>
                <a:latin typeface="Calibri"/>
              </a:defRPr>
            </a:pPr>
            <a:r>
              <a:t>Flutter App</a:t>
            </a:r>
          </a:p>
          <a:p>
            <a:pPr algn="ctr">
              <a:defRPr sz="1100">
                <a:solidFill>
                  <a:srgbClr val="6B7B8C"/>
                </a:solidFill>
                <a:latin typeface="Calibri"/>
              </a:defRPr>
            </a:pPr>
            <a:r>
              <a:t>Mobile client — iOS &amp; Android</a:t>
            </a:r>
          </a:p>
        </p:txBody>
      </p:sp>
      <p:sp>
        <p:nvSpPr>
          <p:cNvPr id="9" name="Down Arrow 8"/>
          <p:cNvSpPr/>
          <p:nvPr/>
        </p:nvSpPr>
        <p:spPr>
          <a:xfrm>
            <a:off x="5925312" y="1728216"/>
            <a:ext cx="320040" cy="182880"/>
          </a:xfrm>
          <a:prstGeom prst="downArrow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4720" y="1965960"/>
            <a:ext cx="5212080" cy="658368"/>
          </a:xfrm>
          <a:prstGeom prst="roundRect">
            <a:avLst/>
          </a:prstGeom>
          <a:solidFill>
            <a:srgbClr val="FFF8E8"/>
          </a:solidFill>
          <a:ln w="15240">
            <a:solidFill>
              <a:srgbClr val="0B2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79" y="2039112"/>
            <a:ext cx="49377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B2D5B"/>
                </a:solidFill>
                <a:latin typeface="Calibri"/>
              </a:defRPr>
            </a:pPr>
            <a:r>
              <a:t>Spring Boot REST API</a:t>
            </a:r>
          </a:p>
          <a:p>
            <a:pPr algn="ctr">
              <a:defRPr sz="1100">
                <a:solidFill>
                  <a:srgbClr val="6B7B8C"/>
                </a:solidFill>
                <a:latin typeface="Calibri"/>
              </a:defRPr>
            </a:pPr>
            <a:r>
              <a:t>Microservices + API Gateway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925312" y="2642616"/>
            <a:ext cx="320040" cy="182880"/>
          </a:xfrm>
          <a:prstGeom prst="downArrow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74720" y="2880360"/>
            <a:ext cx="5212080" cy="658368"/>
          </a:xfrm>
          <a:prstGeom prst="roundRect">
            <a:avLst/>
          </a:prstGeom>
          <a:solidFill>
            <a:srgbClr val="E8F1FB"/>
          </a:solidFill>
          <a:ln w="15240">
            <a:solidFill>
              <a:srgbClr val="0B2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79" y="2953512"/>
            <a:ext cx="49377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B2D5B"/>
                </a:solidFill>
                <a:latin typeface="Calibri"/>
              </a:defRPr>
            </a:pPr>
            <a:r>
              <a:t>Spring Security JWT</a:t>
            </a:r>
          </a:p>
          <a:p>
            <a:pPr algn="ctr">
              <a:defRPr sz="1100">
                <a:solidFill>
                  <a:srgbClr val="6B7B8C"/>
                </a:solidFill>
                <a:latin typeface="Calibri"/>
              </a:defRPr>
            </a:pPr>
            <a:r>
              <a:t>Authentication &amp; authorization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925312" y="3557016"/>
            <a:ext cx="320040" cy="182880"/>
          </a:xfrm>
          <a:prstGeom prst="downArrow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74720" y="3794760"/>
            <a:ext cx="5212080" cy="658368"/>
          </a:xfrm>
          <a:prstGeom prst="roundRect">
            <a:avLst/>
          </a:prstGeom>
          <a:solidFill>
            <a:srgbClr val="FFF8E8"/>
          </a:solidFill>
          <a:ln w="15240">
            <a:solidFill>
              <a:srgbClr val="0B2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79" y="3867912"/>
            <a:ext cx="49377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B2D5B"/>
                </a:solidFill>
                <a:latin typeface="Calibri"/>
              </a:defRPr>
            </a:pPr>
            <a:r>
              <a:t>Database</a:t>
            </a:r>
          </a:p>
          <a:p>
            <a:pPr algn="ctr">
              <a:defRPr sz="1100">
                <a:solidFill>
                  <a:srgbClr val="6B7B8C"/>
                </a:solidFill>
                <a:latin typeface="Calibri"/>
              </a:defRPr>
            </a:pPr>
            <a:r>
              <a:t>PostgreSQL / MySQL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925312" y="4471416"/>
            <a:ext cx="320040" cy="182880"/>
          </a:xfrm>
          <a:prstGeom prst="downArrow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74720" y="4709160"/>
            <a:ext cx="5212080" cy="658368"/>
          </a:xfrm>
          <a:prstGeom prst="roundRect">
            <a:avLst/>
          </a:prstGeom>
          <a:solidFill>
            <a:srgbClr val="E8F1FB"/>
          </a:solidFill>
          <a:ln w="15240">
            <a:solidFill>
              <a:srgbClr val="0B2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1879" y="4782312"/>
            <a:ext cx="49377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B2D5B"/>
                </a:solidFill>
                <a:latin typeface="Calibri"/>
              </a:defRPr>
            </a:pPr>
            <a:r>
              <a:t>Cloud / Kubernetes</a:t>
            </a:r>
          </a:p>
          <a:p>
            <a:pPr algn="ctr">
              <a:defRPr sz="1100">
                <a:solidFill>
                  <a:srgbClr val="6B7B8C"/>
                </a:solidFill>
                <a:latin typeface="Calibri"/>
              </a:defRPr>
            </a:pPr>
            <a:r>
              <a:t>Scalable cloud deployment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1051560"/>
            <a:ext cx="2743200" cy="4754880"/>
          </a:xfrm>
          <a:prstGeom prst="roundRect">
            <a:avLst/>
          </a:prstGeom>
          <a:solidFill>
            <a:srgbClr val="E0E4EA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554480" y="2926080"/>
            <a:ext cx="457200" cy="45720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53035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B7B8C"/>
                </a:solidFill>
                <a:latin typeface="Calibri"/>
              </a:defRPr>
            </a:pPr>
            <a:r>
              <a:t>Architecture Diagram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B2D5B"/>
                </a:solidFill>
                <a:latin typeface="Calibri"/>
              </a:defRPr>
            </a:pPr>
            <a:r>
              <a:t>Frontend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A90D9"/>
                </a:solidFill>
                <a:latin typeface="Calibri"/>
              </a:defRPr>
            </a:pPr>
            <a:r>
              <a:t>Flutter · GetX · Modular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Vithry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60196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097280"/>
            <a:ext cx="5394960" cy="4480560"/>
          </a:xfrm>
          <a:prstGeom prst="roundRect">
            <a:avLst/>
          </a:prstGeom>
          <a:solidFill>
            <a:srgbClr val="F4F7FB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80760" y="1097280"/>
            <a:ext cx="5394960" cy="4480560"/>
          </a:xfrm>
          <a:prstGeom prst="roundRect">
            <a:avLst/>
          </a:prstGeom>
          <a:solidFill>
            <a:srgbClr val="F4F7FB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GetX — state management &amp; routing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Dio + HTTPS — REST networking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shared_preferences — local settings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flutter_secure_storage — JWT tokens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encrypt / crypto — data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2344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cached_network_image — media cache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intl — date &amp; number formatting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file_picker / image_picker — uploads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Modular: auth, feed, chat, finance…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11 feature modules implemented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114800"/>
            <a:ext cx="3200400" cy="1828800"/>
          </a:xfrm>
          <a:prstGeom prst="roundRect">
            <a:avLst/>
          </a:prstGeom>
          <a:solidFill>
            <a:srgbClr val="E0E4EA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01200" y="4526280"/>
            <a:ext cx="457200" cy="45720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54406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B7B8C"/>
                </a:solidFill>
                <a:latin typeface="Calibri"/>
              </a:defRPr>
            </a:pPr>
            <a:r>
              <a:t>App Screenshot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B2D5B"/>
                </a:solidFill>
                <a:latin typeface="Calibri"/>
              </a:defRPr>
            </a:pPr>
            <a:r>
              <a:t>Backend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A90D9"/>
                </a:solidFill>
                <a:latin typeface="Calibri"/>
              </a:defRPr>
            </a:pPr>
            <a:r>
              <a:t>Spring Boot 3+ · Java 21 · Maven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Vithry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60196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43000"/>
            <a:ext cx="5394960" cy="2011680"/>
          </a:xfrm>
          <a:prstGeom prst="roundRect">
            <a:avLst/>
          </a:prstGeom>
          <a:solidFill>
            <a:srgbClr val="E8F1FB"/>
          </a:solidFill>
          <a:ln>
            <a:solidFill>
              <a:srgbClr val="0B2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52728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B2D5B"/>
                </a:solidFill>
              </a:defRPr>
            </a:pPr>
            <a:r>
              <a:t>API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0020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REST APIs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Swagger / OpenAPI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API Gateway routing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143000"/>
            <a:ext cx="5394960" cy="2011680"/>
          </a:xfrm>
          <a:prstGeom prst="roundRect">
            <a:avLst/>
          </a:prstGeom>
          <a:solidFill>
            <a:srgbClr val="E8F1FB"/>
          </a:solidFill>
          <a:ln>
            <a:solidFill>
              <a:srgbClr val="0B2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252728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B2D5B"/>
                </a:solidFill>
              </a:defRPr>
            </a:pPr>
            <a:r>
              <a:t>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60020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Spring Security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JWT authentication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Role-based access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474720"/>
            <a:ext cx="5394960" cy="2011680"/>
          </a:xfrm>
          <a:prstGeom prst="roundRect">
            <a:avLst/>
          </a:prstGeom>
          <a:solidFill>
            <a:srgbClr val="E8F1FB"/>
          </a:solidFill>
          <a:ln>
            <a:solidFill>
              <a:srgbClr val="0B2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584448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B2D5B"/>
                </a:solidFill>
              </a:defRPr>
            </a:pPr>
            <a:r>
              <a:t>Data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93192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Spring Data JPA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Repository pattern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PostgreSQL / MySQL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474720"/>
            <a:ext cx="5394960" cy="2011680"/>
          </a:xfrm>
          <a:prstGeom prst="roundRect">
            <a:avLst/>
          </a:prstGeom>
          <a:solidFill>
            <a:srgbClr val="E8F1FB"/>
          </a:solidFill>
          <a:ln>
            <a:solidFill>
              <a:srgbClr val="0B2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3584448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B2D5B"/>
                </a:solidFill>
              </a:defRPr>
            </a:pPr>
            <a:r>
              <a:t>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93192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Service layer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DTO mapping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Exception handling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B2D5B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01968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Vithry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660196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4920" y="5074920"/>
            <a:ext cx="201168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2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5148072"/>
            <a:ext cx="1737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B2D5B"/>
                </a:solidFill>
                <a:latin typeface="Calibri"/>
              </a:defRPr>
            </a:pPr>
            <a:r>
              <a:t>Flutter Client</a:t>
            </a:r>
          </a:p>
          <a:p>
            <a:pPr algn="ctr">
              <a:defRPr sz="1100">
                <a:solidFill>
                  <a:srgbClr val="6B7B8C"/>
                </a:solidFill>
                <a:latin typeface="Calibri"/>
              </a:defRPr>
            </a:pPr>
            <a:r>
              <a:t>Mobile 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87769" y="3558516"/>
            <a:ext cx="201168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2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24929" y="3631668"/>
            <a:ext cx="1737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B2D5B"/>
                </a:solidFill>
                <a:latin typeface="Calibri"/>
              </a:defRPr>
            </a:pPr>
            <a:r>
              <a:t>Spring Boot API</a:t>
            </a:r>
          </a:p>
          <a:p>
            <a:pPr algn="ctr">
              <a:defRPr sz="1100">
                <a:solidFill>
                  <a:srgbClr val="6B7B8C"/>
                </a:solidFill>
                <a:latin typeface="Calibri"/>
              </a:defRPr>
            </a:pPr>
            <a:r>
              <a:t>Microservices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84989" y="1104923"/>
            <a:ext cx="201168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2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22149" y="1178075"/>
            <a:ext cx="1737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B2D5B"/>
                </a:solidFill>
                <a:latin typeface="Calibri"/>
              </a:defRPr>
            </a:pPr>
            <a:r>
              <a:t>Database Server</a:t>
            </a:r>
          </a:p>
          <a:p>
            <a:pPr algn="ctr">
              <a:defRPr sz="1100">
                <a:solidFill>
                  <a:srgbClr val="6B7B8C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64850" y="1104923"/>
            <a:ext cx="201168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2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2010" y="1178075"/>
            <a:ext cx="1737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B2D5B"/>
                </a:solidFill>
                <a:latin typeface="Calibri"/>
              </a:defRPr>
            </a:pPr>
            <a:r>
              <a:t>Auth Layer</a:t>
            </a:r>
          </a:p>
          <a:p>
            <a:pPr algn="ctr">
              <a:defRPr sz="1100">
                <a:solidFill>
                  <a:srgbClr val="6B7B8C"/>
                </a:solidFill>
                <a:latin typeface="Calibri"/>
              </a:defRPr>
            </a:pPr>
            <a:r>
              <a:t>JWT tokens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62070" y="3558516"/>
            <a:ext cx="201168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2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99230" y="3631668"/>
            <a:ext cx="1737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B2D5B"/>
                </a:solidFill>
                <a:latin typeface="Calibri"/>
              </a:defRPr>
            </a:pPr>
            <a:r>
              <a:t>Cloud Deploy</a:t>
            </a:r>
          </a:p>
          <a:p>
            <a:pPr algn="ctr">
              <a:defRPr sz="1100">
                <a:solidFill>
                  <a:srgbClr val="6B7B8C"/>
                </a:solidFill>
                <a:latin typeface="Calibri"/>
              </a:defRPr>
            </a:pPr>
            <a:r>
              <a:t>Docker + K8s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0" y="2697480"/>
            <a:ext cx="1188720" cy="1188720"/>
          </a:xfrm>
          <a:prstGeom prst="ellipse">
            <a:avLst/>
          </a:prstGeom>
          <a:solidFill>
            <a:srgbClr val="0B2D5B"/>
          </a:solidFill>
          <a:ln>
            <a:solidFill>
              <a:srgbClr val="E8B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0" y="2971800"/>
            <a:ext cx="1188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Vithey</a:t>
            </a:r>
            <a:br/>
            <a:r>
              <a:t>Platform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1051560"/>
            <a:ext cx="3200400" cy="2286000"/>
          </a:xfrm>
          <a:prstGeom prst="roundRect">
            <a:avLst/>
          </a:prstGeom>
          <a:solidFill>
            <a:srgbClr val="E0E4EA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783080" y="1691639"/>
            <a:ext cx="457200" cy="45720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2834639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B7B8C"/>
                </a:solidFill>
                <a:latin typeface="Calibri"/>
              </a:defRPr>
            </a:pPr>
            <a:r>
              <a:t>Cloud / Server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B2D5B"/>
                </a:solidFill>
                <a:latin typeface="Calibri"/>
              </a:defRPr>
            </a:pPr>
            <a:r>
              <a:t>Project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A90D9"/>
                </a:solidFill>
                <a:latin typeface="Calibri"/>
              </a:defRPr>
            </a:pPr>
            <a:r>
              <a:t>Development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Vithry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60196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560320"/>
            <a:ext cx="502920" cy="502920"/>
          </a:xfrm>
          <a:prstGeom prst="ellipse">
            <a:avLst/>
          </a:prstGeom>
          <a:solidFill>
            <a:srgbClr val="E8B923"/>
          </a:solidFill>
          <a:ln>
            <a:solidFill>
              <a:srgbClr val="0B2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65176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B2D5B"/>
                </a:solidFill>
              </a:defRPr>
            </a:pPr>
            <a:r>
              <a:t>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05840" y="2807208"/>
            <a:ext cx="1069848" cy="0"/>
          </a:xfrm>
          <a:prstGeom prst="line">
            <a:avLst/>
          </a:prstGeom>
          <a:ln w="3175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ight Arrow 10"/>
          <p:cNvSpPr/>
          <p:nvPr/>
        </p:nvSpPr>
        <p:spPr>
          <a:xfrm>
            <a:off x="1755648" y="2670048"/>
            <a:ext cx="274320" cy="256032"/>
          </a:xfrm>
          <a:prstGeom prst="rightArrow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" y="3154679"/>
            <a:ext cx="1371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B2D5B"/>
                </a:solidFill>
              </a:defRPr>
            </a:pPr>
            <a:r>
              <a:t>Requirements</a:t>
            </a:r>
          </a:p>
        </p:txBody>
      </p:sp>
      <p:sp>
        <p:nvSpPr>
          <p:cNvPr id="13" name="Oval 12"/>
          <p:cNvSpPr/>
          <p:nvPr/>
        </p:nvSpPr>
        <p:spPr>
          <a:xfrm>
            <a:off x="2075688" y="2560320"/>
            <a:ext cx="502920" cy="502920"/>
          </a:xfrm>
          <a:prstGeom prst="ellipse">
            <a:avLst/>
          </a:prstGeom>
          <a:solidFill>
            <a:srgbClr val="E8B923"/>
          </a:solidFill>
          <a:ln>
            <a:solidFill>
              <a:srgbClr val="0B2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75688" y="265176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B2D5B"/>
                </a:solidFill>
              </a:defRPr>
            </a:pPr>
            <a:r>
              <a:t>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78608" y="2807208"/>
            <a:ext cx="1069848" cy="0"/>
          </a:xfrm>
          <a:prstGeom prst="line">
            <a:avLst/>
          </a:prstGeom>
          <a:ln w="3175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ight Arrow 15"/>
          <p:cNvSpPr/>
          <p:nvPr/>
        </p:nvSpPr>
        <p:spPr>
          <a:xfrm>
            <a:off x="3328416" y="2670048"/>
            <a:ext cx="274320" cy="256032"/>
          </a:xfrm>
          <a:prstGeom prst="rightArrow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55648" y="3154679"/>
            <a:ext cx="1371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B2D5B"/>
                </a:solidFill>
              </a:defRPr>
            </a:pPr>
            <a:r>
              <a:t>UI/UX Design</a:t>
            </a:r>
          </a:p>
        </p:txBody>
      </p:sp>
      <p:sp>
        <p:nvSpPr>
          <p:cNvPr id="18" name="Oval 17"/>
          <p:cNvSpPr/>
          <p:nvPr/>
        </p:nvSpPr>
        <p:spPr>
          <a:xfrm>
            <a:off x="3648456" y="2560320"/>
            <a:ext cx="502920" cy="502920"/>
          </a:xfrm>
          <a:prstGeom prst="ellipse">
            <a:avLst/>
          </a:prstGeom>
          <a:solidFill>
            <a:srgbClr val="E8B923"/>
          </a:solidFill>
          <a:ln>
            <a:solidFill>
              <a:srgbClr val="0B2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48456" y="265176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B2D5B"/>
                </a:solidFill>
              </a:defRPr>
            </a:pPr>
            <a:r>
              <a:t>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151376" y="2807208"/>
            <a:ext cx="1069848" cy="0"/>
          </a:xfrm>
          <a:prstGeom prst="line">
            <a:avLst/>
          </a:prstGeom>
          <a:ln w="3175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ight Arrow 20"/>
          <p:cNvSpPr/>
          <p:nvPr/>
        </p:nvSpPr>
        <p:spPr>
          <a:xfrm>
            <a:off x="4901184" y="2670048"/>
            <a:ext cx="274320" cy="256032"/>
          </a:xfrm>
          <a:prstGeom prst="rightArrow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3154679"/>
            <a:ext cx="1371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B2D5B"/>
                </a:solidFill>
              </a:defRPr>
            </a:pPr>
            <a:r>
              <a:t>Backend Dev</a:t>
            </a:r>
          </a:p>
        </p:txBody>
      </p:sp>
      <p:sp>
        <p:nvSpPr>
          <p:cNvPr id="23" name="Oval 22"/>
          <p:cNvSpPr/>
          <p:nvPr/>
        </p:nvSpPr>
        <p:spPr>
          <a:xfrm>
            <a:off x="5221224" y="2560320"/>
            <a:ext cx="502920" cy="502920"/>
          </a:xfrm>
          <a:prstGeom prst="ellipse">
            <a:avLst/>
          </a:prstGeom>
          <a:solidFill>
            <a:srgbClr val="E8B923"/>
          </a:solidFill>
          <a:ln>
            <a:solidFill>
              <a:srgbClr val="0B2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21224" y="265176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B2D5B"/>
                </a:solidFill>
              </a:defRPr>
            </a:pPr>
            <a:r>
              <a:t>4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724144" y="2807208"/>
            <a:ext cx="1069848" cy="0"/>
          </a:xfrm>
          <a:prstGeom prst="line">
            <a:avLst/>
          </a:prstGeom>
          <a:ln w="3175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ight Arrow 25"/>
          <p:cNvSpPr/>
          <p:nvPr/>
        </p:nvSpPr>
        <p:spPr>
          <a:xfrm>
            <a:off x="6473952" y="2670048"/>
            <a:ext cx="274320" cy="256032"/>
          </a:xfrm>
          <a:prstGeom prst="rightArrow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01184" y="3154679"/>
            <a:ext cx="1371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B2D5B"/>
                </a:solidFill>
              </a:defRPr>
            </a:pPr>
            <a:r>
              <a:t>Frontend Dev</a:t>
            </a:r>
          </a:p>
        </p:txBody>
      </p:sp>
      <p:sp>
        <p:nvSpPr>
          <p:cNvPr id="28" name="Oval 27"/>
          <p:cNvSpPr/>
          <p:nvPr/>
        </p:nvSpPr>
        <p:spPr>
          <a:xfrm>
            <a:off x="6793992" y="2560320"/>
            <a:ext cx="502920" cy="502920"/>
          </a:xfrm>
          <a:prstGeom prst="ellipse">
            <a:avLst/>
          </a:prstGeom>
          <a:solidFill>
            <a:srgbClr val="E8B923"/>
          </a:solidFill>
          <a:ln>
            <a:solidFill>
              <a:srgbClr val="0B2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93992" y="265176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B2D5B"/>
                </a:solidFill>
              </a:defRPr>
            </a:pPr>
            <a:r>
              <a:t>5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296912" y="2807208"/>
            <a:ext cx="1069848" cy="0"/>
          </a:xfrm>
          <a:prstGeom prst="line">
            <a:avLst/>
          </a:prstGeom>
          <a:ln w="3175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ight Arrow 30"/>
          <p:cNvSpPr/>
          <p:nvPr/>
        </p:nvSpPr>
        <p:spPr>
          <a:xfrm>
            <a:off x="8046720" y="2670048"/>
            <a:ext cx="274320" cy="256032"/>
          </a:xfrm>
          <a:prstGeom prst="rightArrow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73952" y="3154679"/>
            <a:ext cx="1371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B2D5B"/>
                </a:solidFill>
              </a:defRPr>
            </a:pPr>
            <a:r>
              <a:t>Integration</a:t>
            </a:r>
          </a:p>
        </p:txBody>
      </p:sp>
      <p:sp>
        <p:nvSpPr>
          <p:cNvPr id="33" name="Oval 32"/>
          <p:cNvSpPr/>
          <p:nvPr/>
        </p:nvSpPr>
        <p:spPr>
          <a:xfrm>
            <a:off x="8366760" y="2560320"/>
            <a:ext cx="502920" cy="502920"/>
          </a:xfrm>
          <a:prstGeom prst="ellipse">
            <a:avLst/>
          </a:prstGeom>
          <a:solidFill>
            <a:srgbClr val="E8B923"/>
          </a:solidFill>
          <a:ln>
            <a:solidFill>
              <a:srgbClr val="0B2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66760" y="265176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B2D5B"/>
                </a:solidFill>
              </a:defRPr>
            </a:pPr>
            <a:r>
              <a:t>6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869680" y="2807208"/>
            <a:ext cx="1069848" cy="0"/>
          </a:xfrm>
          <a:prstGeom prst="line">
            <a:avLst/>
          </a:prstGeom>
          <a:ln w="3175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ight Arrow 35"/>
          <p:cNvSpPr/>
          <p:nvPr/>
        </p:nvSpPr>
        <p:spPr>
          <a:xfrm>
            <a:off x="9619488" y="2670048"/>
            <a:ext cx="274320" cy="256032"/>
          </a:xfrm>
          <a:prstGeom prst="rightArrow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20" y="3154679"/>
            <a:ext cx="1371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B2D5B"/>
                </a:solidFill>
              </a:defRPr>
            </a:pPr>
            <a:r>
              <a:t>Testing</a:t>
            </a:r>
          </a:p>
        </p:txBody>
      </p:sp>
      <p:sp>
        <p:nvSpPr>
          <p:cNvPr id="38" name="Oval 37"/>
          <p:cNvSpPr/>
          <p:nvPr/>
        </p:nvSpPr>
        <p:spPr>
          <a:xfrm>
            <a:off x="9939528" y="2560320"/>
            <a:ext cx="502920" cy="502920"/>
          </a:xfrm>
          <a:prstGeom prst="ellipse">
            <a:avLst/>
          </a:prstGeom>
          <a:solidFill>
            <a:srgbClr val="4A90D9"/>
          </a:solidFill>
          <a:ln>
            <a:solidFill>
              <a:srgbClr val="0B2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39528" y="265176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B2D5B"/>
                </a:solidFill>
              </a:defRPr>
            </a:pPr>
            <a: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19488" y="3154679"/>
            <a:ext cx="1371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B2D5B"/>
                </a:solidFill>
              </a:defRPr>
            </a:pPr>
            <a:r>
              <a:t>Deployment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4114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✅ Phases 1–6 completed (analysis → testing)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🔲 Phase 7 — production deployment to cloud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Tools: Figma · Flutter · Spring Boot · Docker · GitHub Actions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B2D5B"/>
                </a:solidFill>
                <a:latin typeface="Calibri"/>
              </a:defRPr>
            </a:pPr>
            <a:r>
              <a:t>DevOps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A90D9"/>
                </a:solidFill>
                <a:latin typeface="Calibri"/>
              </a:defRPr>
            </a:pPr>
            <a:r>
              <a:t>CI/CD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Vithry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60196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86000"/>
            <a:ext cx="1828800" cy="777240"/>
          </a:xfrm>
          <a:prstGeom prst="roundRect">
            <a:avLst/>
          </a:prstGeom>
          <a:solidFill>
            <a:srgbClr val="0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8716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Git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14600" y="2542032"/>
            <a:ext cx="256032" cy="256032"/>
          </a:xfrm>
          <a:prstGeom prst="rightArrow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88920" y="2286000"/>
            <a:ext cx="1828800" cy="77724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248716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Docker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663440" y="2542032"/>
            <a:ext cx="256032" cy="256032"/>
          </a:xfrm>
          <a:prstGeom prst="rightArrow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937760" y="2286000"/>
            <a:ext cx="1828800" cy="777240"/>
          </a:xfrm>
          <a:prstGeom prst="roundRect">
            <a:avLst/>
          </a:prstGeom>
          <a:solidFill>
            <a:srgbClr val="0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248716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CI/CD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812280" y="2542032"/>
            <a:ext cx="256032" cy="256032"/>
          </a:xfrm>
          <a:prstGeom prst="rightArrow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086600" y="2286000"/>
            <a:ext cx="1828800" cy="77724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600" y="248716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Testing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961120" y="2542032"/>
            <a:ext cx="256032" cy="256032"/>
          </a:xfrm>
          <a:prstGeom prst="rightArrow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235440" y="2286000"/>
            <a:ext cx="1828800" cy="777240"/>
          </a:xfrm>
          <a:prstGeom prst="roundRect">
            <a:avLst/>
          </a:prstGeom>
          <a:solidFill>
            <a:srgbClr val="0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248716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Cloud Deploy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474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Git version control — branch-based workflow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Docker — per-service container images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GitHub Actions — automated CI per service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Bruno / Postman — API integration testing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Deploy to GCP · Kubernetes · OpenShift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B2D5B"/>
                </a:solidFill>
                <a:latin typeface="Calibri"/>
              </a:defRPr>
            </a:pPr>
            <a:r>
              <a:t>Security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01968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Vithry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660196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7" name="Pentagon 6"/>
          <p:cNvSpPr/>
          <p:nvPr/>
        </p:nvSpPr>
        <p:spPr>
          <a:xfrm>
            <a:off x="502920" y="2011680"/>
            <a:ext cx="1920240" cy="1005840"/>
          </a:xfrm>
          <a:prstGeom prst="homePlate">
            <a:avLst/>
          </a:prstGeom>
          <a:solidFill>
            <a:srgbClr val="E8F1FB"/>
          </a:solidFill>
          <a:ln>
            <a:solidFill>
              <a:srgbClr val="0B2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945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2D5B"/>
                </a:solidFill>
              </a:defRPr>
            </a:pPr>
            <a:r>
              <a:t>Frontend</a:t>
            </a:r>
            <a:br/>
            <a:r>
              <a:t>Secure Storage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68880" y="2377440"/>
            <a:ext cx="256032" cy="256032"/>
          </a:xfrm>
          <a:prstGeom prst="rightArrow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entagon 9"/>
          <p:cNvSpPr/>
          <p:nvPr/>
        </p:nvSpPr>
        <p:spPr>
          <a:xfrm>
            <a:off x="2743200" y="2011680"/>
            <a:ext cx="1920240" cy="1005840"/>
          </a:xfrm>
          <a:prstGeom prst="homePlate">
            <a:avLst/>
          </a:prstGeom>
          <a:solidFill>
            <a:srgbClr val="FFF8E8"/>
          </a:solidFill>
          <a:ln>
            <a:solidFill>
              <a:srgbClr val="0B2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21945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2D5B"/>
                </a:solidFill>
              </a:defRPr>
            </a:pPr>
            <a:r>
              <a:t>JWT</a:t>
            </a:r>
            <a:br/>
            <a:r>
              <a:t>Tokens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709160" y="2377440"/>
            <a:ext cx="256032" cy="256032"/>
          </a:xfrm>
          <a:prstGeom prst="rightArrow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entagon 12"/>
          <p:cNvSpPr/>
          <p:nvPr/>
        </p:nvSpPr>
        <p:spPr>
          <a:xfrm>
            <a:off x="4983480" y="2011680"/>
            <a:ext cx="1920240" cy="1005840"/>
          </a:xfrm>
          <a:prstGeom prst="homePlate">
            <a:avLst/>
          </a:prstGeom>
          <a:solidFill>
            <a:srgbClr val="E8F1FB"/>
          </a:solidFill>
          <a:ln>
            <a:solidFill>
              <a:srgbClr val="0B2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21945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2D5B"/>
                </a:solidFill>
              </a:defRPr>
            </a:pPr>
            <a:r>
              <a:t>Spring</a:t>
            </a:r>
            <a:br/>
            <a:r>
              <a:t>Security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949440" y="2377440"/>
            <a:ext cx="256032" cy="256032"/>
          </a:xfrm>
          <a:prstGeom prst="rightArrow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entagon 15"/>
          <p:cNvSpPr/>
          <p:nvPr/>
        </p:nvSpPr>
        <p:spPr>
          <a:xfrm>
            <a:off x="7223760" y="2011680"/>
            <a:ext cx="1920240" cy="1005840"/>
          </a:xfrm>
          <a:prstGeom prst="homePlate">
            <a:avLst/>
          </a:prstGeom>
          <a:solidFill>
            <a:srgbClr val="FFF8E8"/>
          </a:solidFill>
          <a:ln>
            <a:solidFill>
              <a:srgbClr val="0B2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21945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2D5B"/>
                </a:solidFill>
              </a:defRPr>
            </a:pPr>
            <a:r>
              <a:t>RBAC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189720" y="2377440"/>
            <a:ext cx="256032" cy="256032"/>
          </a:xfrm>
          <a:prstGeom prst="rightArrow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entagon 18"/>
          <p:cNvSpPr/>
          <p:nvPr/>
        </p:nvSpPr>
        <p:spPr>
          <a:xfrm>
            <a:off x="9464040" y="2011680"/>
            <a:ext cx="1920240" cy="1005840"/>
          </a:xfrm>
          <a:prstGeom prst="homePlate">
            <a:avLst/>
          </a:prstGeom>
          <a:solidFill>
            <a:srgbClr val="E8F1FB"/>
          </a:solidFill>
          <a:ln>
            <a:solidFill>
              <a:srgbClr val="0B2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64040" y="21945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2D5B"/>
                </a:solidFill>
              </a:defRPr>
            </a:pPr>
            <a:r>
              <a:t>Secure</a:t>
            </a:r>
            <a:br/>
            <a:r>
              <a:t>REST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383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Frontend: flutter_secure_storage for JWT, encrypted prefs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Backend: BCrypt passwords, gateway token validation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System: role-based access, HTTPS-only communication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B2D5B"/>
                </a:solidFill>
                <a:latin typeface="Calibri"/>
              </a:defRPr>
            </a:pPr>
            <a:r>
              <a:t>Deployment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01968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Vithry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660196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539496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2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16152"/>
            <a:ext cx="51206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B2D5B"/>
                </a:solidFill>
                <a:latin typeface="Calibri"/>
              </a:defRPr>
            </a:pPr>
            <a:r>
              <a:t>Google Cloud</a:t>
            </a:r>
          </a:p>
          <a:p>
            <a:pPr algn="ctr">
              <a:defRPr sz="1100">
                <a:solidFill>
                  <a:srgbClr val="6B7B8C"/>
                </a:solidFill>
                <a:latin typeface="Calibri"/>
              </a:defRPr>
            </a:pPr>
            <a:r>
              <a:t>Primary cloud target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143000"/>
            <a:ext cx="539496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2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16152"/>
            <a:ext cx="51206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B2D5B"/>
                </a:solidFill>
                <a:latin typeface="Calibri"/>
              </a:defRPr>
            </a:pPr>
            <a:r>
              <a:t>Kubernetes</a:t>
            </a:r>
          </a:p>
          <a:p>
            <a:pPr algn="ctr">
              <a:defRPr sz="1100">
                <a:solidFill>
                  <a:srgbClr val="6B7B8C"/>
                </a:solidFill>
                <a:latin typeface="Calibri"/>
              </a:defRPr>
            </a:pPr>
            <a:r>
              <a:t>Container orchestration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063240"/>
            <a:ext cx="539496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2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136392"/>
            <a:ext cx="51206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B2D5B"/>
                </a:solidFill>
                <a:latin typeface="Calibri"/>
              </a:defRPr>
            </a:pPr>
            <a:r>
              <a:t>OpenShift</a:t>
            </a:r>
          </a:p>
          <a:p>
            <a:pPr algn="ctr">
              <a:defRPr sz="1100">
                <a:solidFill>
                  <a:srgbClr val="6B7B8C"/>
                </a:solidFill>
                <a:latin typeface="Calibri"/>
              </a:defRPr>
            </a:pPr>
            <a:r>
              <a:t>Enterprise deployment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3063240"/>
            <a:ext cx="539496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2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136392"/>
            <a:ext cx="51206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B2D5B"/>
                </a:solidFill>
                <a:latin typeface="Calibri"/>
              </a:defRPr>
            </a:pPr>
            <a:r>
              <a:t>Oracle WebLogic</a:t>
            </a:r>
          </a:p>
          <a:p>
            <a:pPr algn="ctr">
              <a:defRPr sz="1100">
                <a:solidFill>
                  <a:srgbClr val="6B7B8C"/>
                </a:solidFill>
                <a:latin typeface="Calibri"/>
              </a:defRPr>
            </a:pPr>
            <a:r>
              <a:t>Legacy compatibility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0292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Scalability — horizontal scaling via microservices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High availability — stateless service design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Cloud-native — Eureka discovery + Config Server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B2D5B"/>
                </a:solidFill>
                <a:latin typeface="Calibri"/>
              </a:defRPr>
            </a:pPr>
            <a:r>
              <a:t>Impact &amp; Benefits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01968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Vithry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660196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352044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325880"/>
            <a:ext cx="502920" cy="502920"/>
          </a:xfrm>
          <a:prstGeom prst="ellipse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89888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B2D5B"/>
                </a:solidFill>
              </a:defRPr>
            </a:pPr>
            <a: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261872"/>
            <a:ext cx="2606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B2D5B"/>
                </a:solidFill>
                <a:latin typeface="Calibri"/>
              </a:defRPr>
            </a:pPr>
            <a:r>
              <a:t>Centralized Platform</a:t>
            </a:r>
          </a:p>
          <a:p>
            <a:pPr>
              <a:defRPr sz="1100">
                <a:solidFill>
                  <a:srgbClr val="6B7B8C"/>
                </a:solidFill>
                <a:latin typeface="Calibri"/>
              </a:defRPr>
            </a:pPr>
            <a:r>
              <a:t>One app for all student needs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097280"/>
            <a:ext cx="352044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34840" y="1325880"/>
            <a:ext cx="502920" cy="502920"/>
          </a:xfrm>
          <a:prstGeom prst="ellipse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389888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B2D5B"/>
                </a:solidFill>
              </a:defRPr>
            </a:pPr>
            <a:r>
              <a:t>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1261872"/>
            <a:ext cx="2606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B2D5B"/>
                </a:solidFill>
                <a:latin typeface="Calibri"/>
              </a:defRPr>
            </a:pPr>
            <a:r>
              <a:t>Better Communication</a:t>
            </a:r>
          </a:p>
          <a:p>
            <a:pPr>
              <a:defRPr sz="1100">
                <a:solidFill>
                  <a:srgbClr val="6B7B8C"/>
                </a:solidFill>
                <a:latin typeface="Calibri"/>
              </a:defRPr>
            </a:pPr>
            <a:r>
              <a:t>Campus social networking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097280"/>
            <a:ext cx="352044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0" y="1325880"/>
            <a:ext cx="502920" cy="502920"/>
          </a:xfrm>
          <a:prstGeom prst="ellipse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389888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B2D5B"/>
                </a:solidFill>
              </a:defRPr>
            </a:pPr>
            <a:r>
              <a:t>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1261872"/>
            <a:ext cx="2606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B2D5B"/>
                </a:solidFill>
                <a:latin typeface="Calibri"/>
              </a:defRPr>
            </a:pPr>
            <a:r>
              <a:t>Career Growth</a:t>
            </a:r>
          </a:p>
          <a:p>
            <a:pPr>
              <a:defRPr sz="1100">
                <a:solidFill>
                  <a:srgbClr val="6B7B8C"/>
                </a:solidFill>
                <a:latin typeface="Calibri"/>
              </a:defRPr>
            </a:pPr>
            <a:r>
              <a:t>Jobs &amp; CV in one place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926080"/>
            <a:ext cx="352044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218688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B2D5B"/>
                </a:solidFill>
              </a:defRPr>
            </a:pPr>
            <a: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090672"/>
            <a:ext cx="2606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B2D5B"/>
                </a:solidFill>
                <a:latin typeface="Calibri"/>
              </a:defRPr>
            </a:pPr>
            <a:r>
              <a:t>Finance Clarity</a:t>
            </a:r>
          </a:p>
          <a:p>
            <a:pPr>
              <a:defRPr sz="1100">
                <a:solidFill>
                  <a:srgbClr val="6B7B8C"/>
                </a:solidFill>
                <a:latin typeface="Calibri"/>
              </a:defRPr>
            </a:pPr>
            <a:r>
              <a:t>Track fees &amp; invoices easily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2926080"/>
            <a:ext cx="352044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34840" y="3154680"/>
            <a:ext cx="502920" cy="502920"/>
          </a:xfrm>
          <a:prstGeom prst="ellipse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3218688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B2D5B"/>
                </a:solidFill>
              </a:defRPr>
            </a:pPr>
            <a:r>
              <a:t>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3090672"/>
            <a:ext cx="2606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B2D5B"/>
                </a:solidFill>
                <a:latin typeface="Calibri"/>
              </a:defRPr>
            </a:pPr>
            <a:r>
              <a:t>AI Assistance</a:t>
            </a:r>
          </a:p>
          <a:p>
            <a:pPr>
              <a:defRPr sz="1100">
                <a:solidFill>
                  <a:srgbClr val="6B7B8C"/>
                </a:solidFill>
                <a:latin typeface="Calibri"/>
              </a:defRPr>
            </a:pPr>
            <a:r>
              <a:t>24/7 student support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3840480"/>
            <a:ext cx="3200400" cy="2011680"/>
          </a:xfrm>
          <a:prstGeom prst="roundRect">
            <a:avLst/>
          </a:prstGeom>
          <a:solidFill>
            <a:srgbClr val="E0E4EA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01200" y="4343400"/>
            <a:ext cx="457200" cy="45720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53492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B7B8C"/>
                </a:solidFill>
                <a:latin typeface="Calibri"/>
              </a:defRPr>
            </a:pPr>
            <a:r>
              <a:t>Student Impact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B2D5B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01968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Vithry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660196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1234440"/>
            <a:ext cx="384048" cy="384048"/>
          </a:xfrm>
          <a:prstGeom prst="ellipse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280160"/>
            <a:ext cx="3840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2D5B"/>
                </a:solidFill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2801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2121"/>
                </a:solidFill>
              </a:defRPr>
            </a:pPr>
            <a:r>
              <a:t>Full-stack scalable student super app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011680"/>
            <a:ext cx="384048" cy="384048"/>
          </a:xfrm>
          <a:prstGeom prst="ellipse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057400"/>
            <a:ext cx="3840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2D5B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0574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2121"/>
                </a:solidFill>
              </a:defRPr>
            </a:pPr>
            <a:r>
              <a:t>Secure JWT architecture end-to-end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2788920"/>
            <a:ext cx="384048" cy="384048"/>
          </a:xfrm>
          <a:prstGeom prst="ellipse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834639"/>
            <a:ext cx="3840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2D5B"/>
                </a:solidFill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834639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2121"/>
                </a:solidFill>
              </a:defRPr>
            </a:pPr>
            <a:r>
              <a:t>10 microservices + Flutter mobile client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3566160"/>
            <a:ext cx="384048" cy="384048"/>
          </a:xfrm>
          <a:prstGeom prst="ellipse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11879"/>
            <a:ext cx="3840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2D5B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611879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2121"/>
                </a:solidFill>
              </a:defRPr>
            </a:pPr>
            <a:r>
              <a:t>Docker &amp; CI/CD deployment ready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4343400"/>
            <a:ext cx="384048" cy="384048"/>
          </a:xfrm>
          <a:prstGeom prst="ellipse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389120"/>
            <a:ext cx="3840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2D5B"/>
                </a:solidFill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3891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2121"/>
                </a:solidFill>
              </a:defRPr>
            </a:pPr>
            <a:r>
              <a:t>Built for real AUB student daily life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1097280"/>
            <a:ext cx="3657600" cy="4114800"/>
          </a:xfrm>
          <a:prstGeom prst="roundRect">
            <a:avLst/>
          </a:prstGeom>
          <a:solidFill>
            <a:srgbClr val="E0E4EA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72600" y="2651760"/>
            <a:ext cx="457200" cy="45720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4709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B7B8C"/>
                </a:solidFill>
                <a:latin typeface="Calibri"/>
              </a:defRPr>
            </a:pPr>
            <a:r>
              <a:t>App Preview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D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>
                <a:solidFill>
                  <a:srgbClr val="E8B923"/>
                </a:solidFill>
              </a:defRPr>
            </a:pPr>
            <a:r>
              <a:t>Team Vithey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4A90D9"/>
                </a:solidFill>
              </a:defRPr>
            </a:pPr>
            <a:r>
              <a:t>Vithry App — Organize · Share · Learn · Career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502920"/>
            <a:ext cx="1371600" cy="1371600"/>
          </a:xfrm>
          <a:prstGeom prst="roundRect">
            <a:avLst/>
          </a:prstGeom>
          <a:solidFill>
            <a:srgbClr val="E0E4EA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52160" y="685800"/>
            <a:ext cx="457200" cy="45720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0" y="1371599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B7B8C"/>
                </a:solidFill>
                <a:latin typeface="Calibri"/>
              </a:defRPr>
            </a:pPr>
            <a:r>
              <a:t>Logo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Vithry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8735" y="660196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Calibr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